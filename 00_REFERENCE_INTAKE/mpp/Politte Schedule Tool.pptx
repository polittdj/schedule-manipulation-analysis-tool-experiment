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lely, Michael (GRC-BC00)" userId="9d0332db-3f69-477f-85d8-87f75c8487d1" providerId="ADAL" clId="{E2711BD5-E6E9-4307-9A06-BC5E4D4B4C52}"/>
    <pc:docChg chg="custSel addSld modSld sldOrd">
      <pc:chgData name="Vallely, Michael (GRC-BC00)" userId="9d0332db-3f69-477f-85d8-87f75c8487d1" providerId="ADAL" clId="{E2711BD5-E6E9-4307-9A06-BC5E4D4B4C52}" dt="2026-07-31T14:28:57.655" v="2265" actId="20577"/>
      <pc:docMkLst>
        <pc:docMk/>
      </pc:docMkLst>
      <pc:sldChg chg="modSp mod">
        <pc:chgData name="Vallely, Michael (GRC-BC00)" userId="9d0332db-3f69-477f-85d8-87f75c8487d1" providerId="ADAL" clId="{E2711BD5-E6E9-4307-9A06-BC5E4D4B4C52}" dt="2026-07-31T14:28:57.655" v="2265" actId="20577"/>
        <pc:sldMkLst>
          <pc:docMk/>
          <pc:sldMk cId="256353922" sldId="258"/>
        </pc:sldMkLst>
        <pc:spChg chg="mod">
          <ac:chgData name="Vallely, Michael (GRC-BC00)" userId="9d0332db-3f69-477f-85d8-87f75c8487d1" providerId="ADAL" clId="{E2711BD5-E6E9-4307-9A06-BC5E4D4B4C52}" dt="2026-07-31T14:28:57.655" v="2265" actId="20577"/>
          <ac:spMkLst>
            <pc:docMk/>
            <pc:sldMk cId="256353922" sldId="258"/>
            <ac:spMk id="8" creationId="{590BD788-02B0-8529-1742-D3BB792C592B}"/>
          </ac:spMkLst>
        </pc:spChg>
      </pc:sldChg>
      <pc:sldChg chg="addSp delSp modSp mod">
        <pc:chgData name="Vallely, Michael (GRC-BC00)" userId="9d0332db-3f69-477f-85d8-87f75c8487d1" providerId="ADAL" clId="{E2711BD5-E6E9-4307-9A06-BC5E4D4B4C52}" dt="2026-07-31T14:18:14.983" v="1373" actId="1076"/>
        <pc:sldMkLst>
          <pc:docMk/>
          <pc:sldMk cId="2119178548" sldId="259"/>
        </pc:sldMkLst>
        <pc:spChg chg="add mod">
          <ac:chgData name="Vallely, Michael (GRC-BC00)" userId="9d0332db-3f69-477f-85d8-87f75c8487d1" providerId="ADAL" clId="{E2711BD5-E6E9-4307-9A06-BC5E4D4B4C52}" dt="2026-07-31T14:17:29.715" v="1359" actId="1076"/>
          <ac:spMkLst>
            <pc:docMk/>
            <pc:sldMk cId="2119178548" sldId="259"/>
            <ac:spMk id="4" creationId="{550B149D-11BB-FC69-3BEB-BCA36C6A91E5}"/>
          </ac:spMkLst>
        </pc:spChg>
        <pc:spChg chg="mod">
          <ac:chgData name="Vallely, Michael (GRC-BC00)" userId="9d0332db-3f69-477f-85d8-87f75c8487d1" providerId="ADAL" clId="{E2711BD5-E6E9-4307-9A06-BC5E4D4B4C52}" dt="2026-07-31T14:16:59.849" v="1338" actId="20577"/>
          <ac:spMkLst>
            <pc:docMk/>
            <pc:sldMk cId="2119178548" sldId="259"/>
            <ac:spMk id="8" creationId="{984D0071-8FB1-23C8-E990-5551B11AD561}"/>
          </ac:spMkLst>
        </pc:spChg>
        <pc:spChg chg="add mod">
          <ac:chgData name="Vallely, Michael (GRC-BC00)" userId="9d0332db-3f69-477f-85d8-87f75c8487d1" providerId="ADAL" clId="{E2711BD5-E6E9-4307-9A06-BC5E4D4B4C52}" dt="2026-07-31T14:18:00.310" v="1368" actId="1076"/>
          <ac:spMkLst>
            <pc:docMk/>
            <pc:sldMk cId="2119178548" sldId="259"/>
            <ac:spMk id="10" creationId="{82E5403D-965F-4C11-285B-B7872DA5C5BF}"/>
          </ac:spMkLst>
        </pc:spChg>
        <pc:spChg chg="add mod">
          <ac:chgData name="Vallely, Michael (GRC-BC00)" userId="9d0332db-3f69-477f-85d8-87f75c8487d1" providerId="ADAL" clId="{E2711BD5-E6E9-4307-9A06-BC5E4D4B4C52}" dt="2026-07-31T14:18:14.983" v="1373" actId="1076"/>
          <ac:spMkLst>
            <pc:docMk/>
            <pc:sldMk cId="2119178548" sldId="259"/>
            <ac:spMk id="12" creationId="{739B95D9-597C-1CF5-18EA-8757BC70ECED}"/>
          </ac:spMkLst>
        </pc:spChg>
        <pc:picChg chg="add mod">
          <ac:chgData name="Vallely, Michael (GRC-BC00)" userId="9d0332db-3f69-477f-85d8-87f75c8487d1" providerId="ADAL" clId="{E2711BD5-E6E9-4307-9A06-BC5E4D4B4C52}" dt="2026-07-31T13:57:47.161" v="6" actId="1076"/>
          <ac:picMkLst>
            <pc:docMk/>
            <pc:sldMk cId="2119178548" sldId="259"/>
            <ac:picMk id="3" creationId="{810430E3-1400-CC04-3B9B-F88D1F0B70D0}"/>
          </ac:picMkLst>
        </pc:picChg>
        <pc:picChg chg="del">
          <ac:chgData name="Vallely, Michael (GRC-BC00)" userId="9d0332db-3f69-477f-85d8-87f75c8487d1" providerId="ADAL" clId="{E2711BD5-E6E9-4307-9A06-BC5E4D4B4C52}" dt="2026-07-31T13:56:43.680" v="0" actId="478"/>
          <ac:picMkLst>
            <pc:docMk/>
            <pc:sldMk cId="2119178548" sldId="259"/>
            <ac:picMk id="14" creationId="{BB4126D6-17ED-6766-765E-4A01D4DDD2D4}"/>
          </ac:picMkLst>
        </pc:picChg>
      </pc:sldChg>
      <pc:sldChg chg="addSp modSp add mod ord">
        <pc:chgData name="Vallely, Michael (GRC-BC00)" userId="9d0332db-3f69-477f-85d8-87f75c8487d1" providerId="ADAL" clId="{E2711BD5-E6E9-4307-9A06-BC5E4D4B4C52}" dt="2026-07-31T14:11:12.532" v="854" actId="1076"/>
        <pc:sldMkLst>
          <pc:docMk/>
          <pc:sldMk cId="393096662" sldId="260"/>
        </pc:sldMkLst>
        <pc:spChg chg="add mod">
          <ac:chgData name="Vallely, Michael (GRC-BC00)" userId="9d0332db-3f69-477f-85d8-87f75c8487d1" providerId="ADAL" clId="{E2711BD5-E6E9-4307-9A06-BC5E4D4B4C52}" dt="2026-07-31T14:10:40.271" v="809" actId="1076"/>
          <ac:spMkLst>
            <pc:docMk/>
            <pc:sldMk cId="393096662" sldId="260"/>
            <ac:spMk id="2" creationId="{A6391649-9C86-C043-5D05-A41C21129464}"/>
          </ac:spMkLst>
        </pc:spChg>
        <pc:spChg chg="add mod">
          <ac:chgData name="Vallely, Michael (GRC-BC00)" userId="9d0332db-3f69-477f-85d8-87f75c8487d1" providerId="ADAL" clId="{E2711BD5-E6E9-4307-9A06-BC5E4D4B4C52}" dt="2026-07-31T14:11:07.341" v="853" actId="1076"/>
          <ac:spMkLst>
            <pc:docMk/>
            <pc:sldMk cId="393096662" sldId="260"/>
            <ac:spMk id="4" creationId="{0DC1090B-B82B-9A35-7FED-6A131275F59C}"/>
          </ac:spMkLst>
        </pc:spChg>
        <pc:spChg chg="mod">
          <ac:chgData name="Vallely, Michael (GRC-BC00)" userId="9d0332db-3f69-477f-85d8-87f75c8487d1" providerId="ADAL" clId="{E2711BD5-E6E9-4307-9A06-BC5E4D4B4C52}" dt="2026-07-31T14:11:12.532" v="854" actId="1076"/>
          <ac:spMkLst>
            <pc:docMk/>
            <pc:sldMk cId="393096662" sldId="260"/>
            <ac:spMk id="8" creationId="{5B349646-C360-6B4E-35FD-1F692DDA30B0}"/>
          </ac:spMkLst>
        </pc:spChg>
      </pc:sldChg>
      <pc:sldChg chg="modSp add mod">
        <pc:chgData name="Vallely, Michael (GRC-BC00)" userId="9d0332db-3f69-477f-85d8-87f75c8487d1" providerId="ADAL" clId="{E2711BD5-E6E9-4307-9A06-BC5E4D4B4C52}" dt="2026-07-31T14:28:17.197" v="2255" actId="113"/>
        <pc:sldMkLst>
          <pc:docMk/>
          <pc:sldMk cId="2338712368" sldId="261"/>
        </pc:sldMkLst>
        <pc:spChg chg="mod">
          <ac:chgData name="Vallely, Michael (GRC-BC00)" userId="9d0332db-3f69-477f-85d8-87f75c8487d1" providerId="ADAL" clId="{E2711BD5-E6E9-4307-9A06-BC5E4D4B4C52}" dt="2026-07-31T14:28:17.197" v="2255" actId="113"/>
          <ac:spMkLst>
            <pc:docMk/>
            <pc:sldMk cId="2338712368" sldId="261"/>
            <ac:spMk id="8" creationId="{E6768596-BFA8-A729-B1CC-5CB2A3DFA1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EF1A-3E31-E28E-CF19-AF2C859AF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56F5B-3C33-5A5F-0166-2C1EBA84E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212B6-92B4-CCC4-E037-A6F09BF1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10A44-5EF5-95BB-649D-0D8123DDB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6B32F-2A02-6AB1-4CE7-1A9E7CF6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19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6ACD0-FEAF-EC71-8158-29AD09EB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504FC-02DD-826F-D3E9-8FD3B370C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3C4D7-DA9B-0260-A24A-99E7E615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8F633-424D-6B9C-698D-7DFB7CFC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88085-9332-304C-E43A-F40EFF7C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0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EFA9-3C95-20EC-F412-41F6150EB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8F624-ACD0-810F-D5D1-4B0003A41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856F3-091D-EAC3-1B0C-E5B8D8A2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1B66C-1B32-04C1-9FB9-713D3DF5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B9F13-D65B-A4B9-1C84-3062F616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9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3D37-DADB-9CF0-FCCC-5CC533328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0F5C-69BA-4C4B-3792-7EBB58E31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96493-351A-5E5A-1F5C-BC4BF9209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2F174-7797-14CC-E03F-D7163A67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98A48-C613-78B8-9DF7-FD7EE37B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68541-9390-6539-F2C2-5CDC4E35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19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DB63-C8C3-C5FD-1907-61386733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4538D-00AF-E326-DB8F-674C6DAC4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DEE2D-5734-CB3F-CD35-660F91686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3A3DFB-71DD-A495-CB73-506D7B7CC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7001B-2B49-7DE4-114E-2D3CB492A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6123E-BC84-F867-92A4-AC48F83D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ED85AE-201D-102B-23E3-DB63002E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CEFFE3-86F5-1D4A-AB41-BC94EC3F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3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E092-761F-4BDB-3578-B238CCF6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36E86C-0027-A6E6-AFA7-4A4DF9EA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53F3C-662D-53EF-AFF1-2070588D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43A82-3FCF-D22D-962F-B9FFC29E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2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AC5BE4-BD9E-87CA-B026-1C921747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B478C7-08E2-F074-A692-9DB90DF09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6C2B3-7D18-41D6-A3F6-235ADA90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0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FCAF-BDCA-87D0-BFAC-3C6F1E42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2E45E-0B88-3F7B-BACF-DABA2C0CF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04A94-3F11-2436-97E7-35D48B40E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97DF9-4FBB-E5E1-BBA3-F20FBFB87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ABC5F-E22A-2440-CE77-9F3FC93A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60B41-7186-78E6-3A37-7510AD737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9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53D3-B452-F3B8-0429-4F69C670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7E5BB-F4F6-CAD4-001D-A3A225AC7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BB6D3-D324-86B0-3808-9A3F63D1E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D220D-6F60-7FDF-2B7C-EB24F4D7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19351-A10E-4614-A083-DC6AD0C1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FCD08-265C-23F3-36EC-3B2F97C3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37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42B0-EF90-81D3-9483-DF11F656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133F-FE62-FD13-F081-03C1D0E1A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E9956-5F95-1C48-42AC-3536967D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4DE7B-244A-E29B-92DA-98AC6117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882CC-68DA-2B4B-F077-2C95508D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76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0D6BD-EEBC-CCA8-A69C-5F0E883D1C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5695A-A184-408E-8153-628D339F9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A9A1D-679F-8AE8-BADF-E4A65C53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3FAC9-F5BB-BC89-1764-F52CAC93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9A4EE-6497-0DD5-643D-CDF79CC8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9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19E4E-A331-FA65-E4F7-AF3D1D83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2340D-9175-EF20-8B35-59874ABE2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723D5-5ADE-C598-E286-882919D8F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91E60-0305-447B-A93D-376D60AC8C2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25371-408F-6E82-AC08-B37EA8FEB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61332-D7C7-9AE3-DC72-00D3E05B1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E84C7-2FBB-4AF3-8614-2063DFC0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2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F0487C-F64F-369D-B3D6-91EA25B79DEB}"/>
              </a:ext>
            </a:extLst>
          </p:cNvPr>
          <p:cNvSpPr txBox="1"/>
          <p:nvPr/>
        </p:nvSpPr>
        <p:spPr>
          <a:xfrm>
            <a:off x="698740" y="526211"/>
            <a:ext cx="390869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Jacked up Schedule 1: Dangling 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3F773-7E3A-9D49-C063-388CDB141D45}"/>
              </a:ext>
            </a:extLst>
          </p:cNvPr>
          <p:cNvSpPr txBox="1"/>
          <p:nvPr/>
        </p:nvSpPr>
        <p:spPr>
          <a:xfrm>
            <a:off x="5224734" y="406750"/>
            <a:ext cx="5532405" cy="1015663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Checking to see if it handles dangling tasks when checking for missing logic, as opposed to just counting blank Predecessor and blank Successor fields.</a:t>
            </a:r>
          </a:p>
          <a:p>
            <a:endParaRPr lang="en-US" sz="1200"/>
          </a:p>
          <a:p>
            <a:r>
              <a:rPr lang="en-US" sz="1200"/>
              <a:t>These were previously missing from logic metrics, but are now handled by DCMA’s DECMs and Acumen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2AD31B-9559-CFDA-2B05-3577756B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57" y="2114017"/>
            <a:ext cx="6958725" cy="13998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D0F286-1362-B690-39C8-698F53556116}"/>
              </a:ext>
            </a:extLst>
          </p:cNvPr>
          <p:cNvSpPr txBox="1"/>
          <p:nvPr/>
        </p:nvSpPr>
        <p:spPr>
          <a:xfrm>
            <a:off x="8553662" y="1967983"/>
            <a:ext cx="2700043" cy="846065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u="sng"/>
              <a:t>Dangling/Missing Successor: </a:t>
            </a:r>
            <a:r>
              <a:rPr lang="en-US" sz="1200"/>
              <a:t>Technically this has a successor, but the task itself does not drive anything to the right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FAD106-3010-2048-9DA5-356125B66F95}"/>
              </a:ext>
            </a:extLst>
          </p:cNvPr>
          <p:cNvSpPr txBox="1"/>
          <p:nvPr/>
        </p:nvSpPr>
        <p:spPr>
          <a:xfrm>
            <a:off x="3303899" y="4078303"/>
            <a:ext cx="2986639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u="sng"/>
              <a:t>Dangling/Missing Predecessor: </a:t>
            </a:r>
            <a:r>
              <a:rPr lang="en-US" sz="1200"/>
              <a:t>Technically this has a predecessor, but the task itself has nothing pushing it from the left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E0C197-4D59-56EE-56BF-D8B5229465D8}"/>
              </a:ext>
            </a:extLst>
          </p:cNvPr>
          <p:cNvSpPr/>
          <p:nvPr/>
        </p:nvSpPr>
        <p:spPr>
          <a:xfrm>
            <a:off x="5727939" y="2553420"/>
            <a:ext cx="379588" cy="2156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A5820B-E8DE-B79C-6218-F015BA3F715C}"/>
              </a:ext>
            </a:extLst>
          </p:cNvPr>
          <p:cNvCxnSpPr>
            <a:cxnSpLocks/>
            <a:stCxn id="16" idx="1"/>
            <a:endCxn id="19" idx="6"/>
          </p:cNvCxnSpPr>
          <p:nvPr/>
        </p:nvCxnSpPr>
        <p:spPr>
          <a:xfrm flipH="1">
            <a:off x="6107527" y="2391016"/>
            <a:ext cx="2446135" cy="270234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47F6DA-BE63-A52F-381A-3298B7D572FB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280694" y="2391016"/>
            <a:ext cx="1272968" cy="423032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3B97B982-89A9-BDE8-0346-4477C9C69CB3}"/>
              </a:ext>
            </a:extLst>
          </p:cNvPr>
          <p:cNvSpPr/>
          <p:nvPr/>
        </p:nvSpPr>
        <p:spPr>
          <a:xfrm>
            <a:off x="5138467" y="3162738"/>
            <a:ext cx="379588" cy="2156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8B5EA3-68FE-F177-9249-107D84ED44AE}"/>
              </a:ext>
            </a:extLst>
          </p:cNvPr>
          <p:cNvCxnSpPr>
            <a:cxnSpLocks/>
            <a:stCxn id="18" idx="0"/>
            <a:endCxn id="37" idx="4"/>
          </p:cNvCxnSpPr>
          <p:nvPr/>
        </p:nvCxnSpPr>
        <p:spPr>
          <a:xfrm flipV="1">
            <a:off x="4797219" y="3378398"/>
            <a:ext cx="531042" cy="699905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00CD98C-354E-27E3-459C-5FD82A2CF72A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4797219" y="3298167"/>
            <a:ext cx="2207430" cy="780136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10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0E6D-DDC8-C97C-9906-30099B4D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3B7B32-F4E5-16AB-EC31-D78A21F871BD}"/>
              </a:ext>
            </a:extLst>
          </p:cNvPr>
          <p:cNvSpPr txBox="1"/>
          <p:nvPr/>
        </p:nvSpPr>
        <p:spPr>
          <a:xfrm>
            <a:off x="698740" y="526211"/>
            <a:ext cx="411971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Jacked up Schedule 1: Dangling Finish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BD788-02B0-8529-1742-D3BB792C592B}"/>
              </a:ext>
            </a:extLst>
          </p:cNvPr>
          <p:cNvSpPr txBox="1"/>
          <p:nvPr/>
        </p:nvSpPr>
        <p:spPr>
          <a:xfrm>
            <a:off x="1589704" y="4054951"/>
            <a:ext cx="9466223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Ask the tool how late can Task 3 finish before it affects the end of the project. The way float is calculated in schedules is that it does a forward pass and backward pass to calculate Early Start and Early Finish dates and Late Start and Late Finish dates. This leads to Task 3 getting a Late Finish date of 8/12/26. But this task can actually never finish and it would be fine. I’m curious to see what the AI result says.</a:t>
            </a:r>
          </a:p>
          <a:p>
            <a:endParaRPr lang="en-US" sz="1200"/>
          </a:p>
          <a:p>
            <a:r>
              <a:rPr lang="en-US" sz="1200"/>
              <a:t>- It could check the Late Finish date and say 8/12/26</a:t>
            </a:r>
          </a:p>
          <a:p>
            <a:r>
              <a:rPr lang="en-US" sz="1200"/>
              <a:t>- It could say never </a:t>
            </a:r>
          </a:p>
          <a:p>
            <a:r>
              <a:rPr lang="en-US" sz="1200"/>
              <a:t>- The most correct response would be “if the tasks actual duration ends up being 5 days, then the latest it could finish is 8/12, but if it starts on time then it would never affect the project finish date”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AE9A98-3E47-6815-7CB6-0427A7EA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868" y="2210344"/>
            <a:ext cx="6958725" cy="13998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86BA0E-3ACF-7354-8C28-DE2D84DC9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200" y="365177"/>
            <a:ext cx="2238687" cy="1400370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426AFF-29C2-800C-D148-6C77F49B0198}"/>
              </a:ext>
            </a:extLst>
          </p:cNvPr>
          <p:cNvCxnSpPr>
            <a:stCxn id="5" idx="1"/>
            <a:endCxn id="14" idx="0"/>
          </p:cNvCxnSpPr>
          <p:nvPr/>
        </p:nvCxnSpPr>
        <p:spPr>
          <a:xfrm flipH="1">
            <a:off x="5466231" y="1065362"/>
            <a:ext cx="787969" cy="1144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5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FD2D-A1E1-0C15-7561-BAF288CB5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799CDD-8F96-3AF9-933D-43405194AAF8}"/>
              </a:ext>
            </a:extLst>
          </p:cNvPr>
          <p:cNvSpPr txBox="1"/>
          <p:nvPr/>
        </p:nvSpPr>
        <p:spPr>
          <a:xfrm>
            <a:off x="698740" y="526211"/>
            <a:ext cx="645837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Jacked up Schedule 1: Multiple Calendars elapsed days (edays)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349646-C360-6B4E-35FD-1F692DDA30B0}"/>
              </a:ext>
            </a:extLst>
          </p:cNvPr>
          <p:cNvSpPr txBox="1"/>
          <p:nvPr/>
        </p:nvSpPr>
        <p:spPr>
          <a:xfrm>
            <a:off x="1917854" y="4993265"/>
            <a:ext cx="8547464" cy="120032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Overview of what’s going on:</a:t>
            </a:r>
          </a:p>
          <a:p>
            <a:endParaRPr lang="en-US" sz="1200"/>
          </a:p>
          <a:p>
            <a:r>
              <a:rPr lang="en-US" sz="1200" u="sng"/>
              <a:t>Tasks on different calendars:</a:t>
            </a:r>
          </a:p>
          <a:p>
            <a:r>
              <a:rPr lang="en-US" sz="1200" b="1"/>
              <a:t>Standard calendar </a:t>
            </a:r>
            <a:r>
              <a:rPr lang="en-US" sz="1200"/>
              <a:t>works Mon-Fri, 8am-5pm like default, except that the entire month of September is non-working time</a:t>
            </a:r>
          </a:p>
          <a:p>
            <a:r>
              <a:rPr lang="en-US" sz="1200" b="1"/>
              <a:t>24 Hours</a:t>
            </a:r>
            <a:r>
              <a:rPr lang="en-US" sz="1200"/>
              <a:t> works Sun-Sat, 8am-8am: this calendar has no non-working time so it can work through September</a:t>
            </a:r>
          </a:p>
          <a:p>
            <a:r>
              <a:rPr lang="en-US" sz="1200" b="1"/>
              <a:t>edays</a:t>
            </a:r>
            <a:r>
              <a:rPr lang="en-US" sz="1200"/>
              <a:t> ignores all calendars, so its Task Calendar is None (though you could technically assign a calendar that it would ignore)</a:t>
            </a:r>
            <a:endParaRPr lang="en-US" sz="12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6D8CF-DF76-57E8-595D-3BE61426C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12" y="1286202"/>
            <a:ext cx="9566776" cy="2981709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sp>
        <p:nvSpPr>
          <p:cNvPr id="2" name="Left Brace 1">
            <a:extLst>
              <a:ext uri="{FF2B5EF4-FFF2-40B4-BE49-F238E27FC236}">
                <a16:creationId xmlns:a16="http://schemas.microsoft.com/office/drawing/2014/main" id="{A6391649-9C86-C043-5D05-A41C21129464}"/>
              </a:ext>
            </a:extLst>
          </p:cNvPr>
          <p:cNvSpPr/>
          <p:nvPr/>
        </p:nvSpPr>
        <p:spPr>
          <a:xfrm rot="16200000">
            <a:off x="9273397" y="3899467"/>
            <a:ext cx="112143" cy="1095555"/>
          </a:xfrm>
          <a:prstGeom prst="leftBrac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1090B-B82B-9A35-7FED-6A131275F59C}"/>
              </a:ext>
            </a:extLst>
          </p:cNvPr>
          <p:cNvSpPr txBox="1"/>
          <p:nvPr/>
        </p:nvSpPr>
        <p:spPr>
          <a:xfrm>
            <a:off x="8153441" y="4503316"/>
            <a:ext cx="2725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non-working time on Standard calendar</a:t>
            </a:r>
          </a:p>
        </p:txBody>
      </p:sp>
    </p:spTree>
    <p:extLst>
      <p:ext uri="{BB962C8B-B14F-4D97-AF65-F5344CB8AC3E}">
        <p14:creationId xmlns:p14="http://schemas.microsoft.com/office/powerpoint/2010/main" val="393096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16E6-4B6D-197B-A557-E350D551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BBC96A-4B3E-869F-0419-C25074686112}"/>
              </a:ext>
            </a:extLst>
          </p:cNvPr>
          <p:cNvSpPr txBox="1"/>
          <p:nvPr/>
        </p:nvSpPr>
        <p:spPr>
          <a:xfrm>
            <a:off x="698740" y="526211"/>
            <a:ext cx="645837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Jacked up Schedule 1: Multiple Calendars elapsed days (edays)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4D0071-8FB1-23C8-E990-5551B11AD561}"/>
              </a:ext>
            </a:extLst>
          </p:cNvPr>
          <p:cNvSpPr txBox="1"/>
          <p:nvPr/>
        </p:nvSpPr>
        <p:spPr>
          <a:xfrm>
            <a:off x="2064504" y="4677211"/>
            <a:ext cx="8547464" cy="120032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Overview of what’s going on:</a:t>
            </a:r>
          </a:p>
          <a:p>
            <a:endParaRPr lang="en-US" sz="1200"/>
          </a:p>
          <a:p>
            <a:r>
              <a:rPr lang="en-US" sz="1200"/>
              <a:t>Task 8 branches off into three paths:</a:t>
            </a:r>
          </a:p>
          <a:p>
            <a:r>
              <a:rPr lang="en-US" sz="1200" b="1"/>
              <a:t>Path 1:</a:t>
            </a:r>
            <a:r>
              <a:rPr lang="en-US" sz="1200"/>
              <a:t> Standard Calendar Task into 24 Hours Calendar task (which enters slightly into the September void)</a:t>
            </a:r>
          </a:p>
          <a:p>
            <a:r>
              <a:rPr lang="en-US" sz="1200" b="1"/>
              <a:t>Path 2:</a:t>
            </a:r>
            <a:r>
              <a:rPr lang="en-US" sz="1200"/>
              <a:t> Standard Calendar Task into edays task (the edays task fills a lot of the September void, ends 9/28)</a:t>
            </a:r>
          </a:p>
          <a:p>
            <a:r>
              <a:rPr lang="en-US" sz="1200" b="1"/>
              <a:t>Path 3: </a:t>
            </a:r>
            <a:r>
              <a:rPr lang="en-US" sz="1200"/>
              <a:t>Standard Calendar Task into Standard Calendar Task (1d of Total Slack built in)</a:t>
            </a:r>
            <a:endParaRPr lang="en-US" sz="12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0430E3-1400-CC04-3B9B-F88D1F0B7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12" y="1286202"/>
            <a:ext cx="9566776" cy="2981709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0B149D-11BB-FC69-3BEB-BCA36C6A91E5}"/>
              </a:ext>
            </a:extLst>
          </p:cNvPr>
          <p:cNvSpPr txBox="1"/>
          <p:nvPr/>
        </p:nvSpPr>
        <p:spPr>
          <a:xfrm>
            <a:off x="569344" y="2915729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Path 1: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E5403D-965F-4C11-285B-B7872DA5C5BF}"/>
              </a:ext>
            </a:extLst>
          </p:cNvPr>
          <p:cNvSpPr txBox="1"/>
          <p:nvPr/>
        </p:nvSpPr>
        <p:spPr>
          <a:xfrm>
            <a:off x="569344" y="3227832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Path 2: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9B95D9-597C-1CF5-18EA-8757BC70ECED}"/>
              </a:ext>
            </a:extLst>
          </p:cNvPr>
          <p:cNvSpPr txBox="1"/>
          <p:nvPr/>
        </p:nvSpPr>
        <p:spPr>
          <a:xfrm>
            <a:off x="569344" y="3680662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Path 3:</a:t>
            </a:r>
          </a:p>
        </p:txBody>
      </p:sp>
    </p:spTree>
    <p:extLst>
      <p:ext uri="{BB962C8B-B14F-4D97-AF65-F5344CB8AC3E}">
        <p14:creationId xmlns:p14="http://schemas.microsoft.com/office/powerpoint/2010/main" val="211917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0C40E-2DB3-0A21-C7A7-742266CD1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BA4B1E-6E06-9224-325D-52738D699DE8}"/>
              </a:ext>
            </a:extLst>
          </p:cNvPr>
          <p:cNvSpPr txBox="1"/>
          <p:nvPr/>
        </p:nvSpPr>
        <p:spPr>
          <a:xfrm>
            <a:off x="698740" y="526211"/>
            <a:ext cx="645837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Jacked up Schedule 1: Multiple Calendars elapsed days (edays)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68596-BFA8-A729-B1CC-5CB2A3DFA100}"/>
              </a:ext>
            </a:extLst>
          </p:cNvPr>
          <p:cNvSpPr txBox="1"/>
          <p:nvPr/>
        </p:nvSpPr>
        <p:spPr>
          <a:xfrm>
            <a:off x="2064504" y="4677211"/>
            <a:ext cx="8547464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/>
              <a:t>Question 1:</a:t>
            </a:r>
            <a:r>
              <a:rPr lang="en-US" sz="1200" b="1"/>
              <a:t> </a:t>
            </a:r>
            <a:r>
              <a:rPr lang="en-US" sz="1200"/>
              <a:t>what is the critical path?</a:t>
            </a:r>
          </a:p>
          <a:p>
            <a:endParaRPr lang="en-US" sz="1200"/>
          </a:p>
          <a:p>
            <a:r>
              <a:rPr lang="en-US" sz="1200" b="1"/>
              <a:t>Path 1:</a:t>
            </a:r>
            <a:r>
              <a:rPr lang="en-US" sz="1200"/>
              <a:t> 0d slack -&gt; 76.88d slack -&gt; 0d slack</a:t>
            </a:r>
          </a:p>
          <a:p>
            <a:r>
              <a:rPr lang="en-US" sz="1200" b="1"/>
              <a:t>Path 2: </a:t>
            </a:r>
            <a:r>
              <a:rPr lang="en-US" sz="1200"/>
              <a:t>1d slack -&gt; 2.63edays slack -&gt; 0d slack</a:t>
            </a:r>
          </a:p>
          <a:p>
            <a:r>
              <a:rPr lang="en-US" sz="1200" b="1"/>
              <a:t>Path 3: </a:t>
            </a:r>
            <a:r>
              <a:rPr lang="en-US" sz="1200"/>
              <a:t>1d slack -&gt; 0d slack</a:t>
            </a:r>
          </a:p>
          <a:p>
            <a:endParaRPr lang="en-US" sz="1200" b="1"/>
          </a:p>
          <a:p>
            <a:r>
              <a:rPr lang="en-US" sz="1200" b="1" u="sng"/>
              <a:t>Question 2:</a:t>
            </a:r>
            <a:r>
              <a:rPr lang="en-US" sz="1200" b="1"/>
              <a:t> </a:t>
            </a:r>
            <a:r>
              <a:rPr lang="en-US" sz="1200"/>
              <a:t>what does the AI analysis of the critical path say? I’m curious if it notices that task 11 is a ticking time bomb (if this task delays by 2d then the project finishes on time, if it slips by 3 days then the project is delayed by a month)</a:t>
            </a:r>
            <a:endParaRPr lang="en-US" sz="1200" u="sng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0FA68-C82C-0263-4893-9BA6711E1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12" y="1286202"/>
            <a:ext cx="9566776" cy="2981709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C97E52-FD6F-29C2-6537-53D2EBDBCA0D}"/>
              </a:ext>
            </a:extLst>
          </p:cNvPr>
          <p:cNvSpPr txBox="1"/>
          <p:nvPr/>
        </p:nvSpPr>
        <p:spPr>
          <a:xfrm>
            <a:off x="569344" y="2915729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Path 1: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EF53E9-81EB-FA5D-6C78-540B3535FF53}"/>
              </a:ext>
            </a:extLst>
          </p:cNvPr>
          <p:cNvSpPr txBox="1"/>
          <p:nvPr/>
        </p:nvSpPr>
        <p:spPr>
          <a:xfrm>
            <a:off x="569344" y="3227832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Path 2: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D52E78-0DB8-B00B-DAAA-B00E51B077F9}"/>
              </a:ext>
            </a:extLst>
          </p:cNvPr>
          <p:cNvSpPr txBox="1"/>
          <p:nvPr/>
        </p:nvSpPr>
        <p:spPr>
          <a:xfrm>
            <a:off x="569344" y="3680662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Path 3:</a:t>
            </a:r>
          </a:p>
        </p:txBody>
      </p:sp>
    </p:spTree>
    <p:extLst>
      <p:ext uri="{BB962C8B-B14F-4D97-AF65-F5344CB8AC3E}">
        <p14:creationId xmlns:p14="http://schemas.microsoft.com/office/powerpoint/2010/main" val="233871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D35A-9867-12A0-1C83-1A910924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CC4056E-25CB-4AB6-424C-F4EAA4154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81" y="881165"/>
            <a:ext cx="9585793" cy="26518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E2B0C-83D0-08CC-4D35-980A89D23FE2}"/>
              </a:ext>
            </a:extLst>
          </p:cNvPr>
          <p:cNvSpPr txBox="1"/>
          <p:nvPr/>
        </p:nvSpPr>
        <p:spPr>
          <a:xfrm>
            <a:off x="698740" y="526211"/>
            <a:ext cx="232647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Jacked up Schedule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B2E178-E234-E8C7-EC52-C7890D8B8815}"/>
              </a:ext>
            </a:extLst>
          </p:cNvPr>
          <p:cNvSpPr txBox="1"/>
          <p:nvPr/>
        </p:nvSpPr>
        <p:spPr>
          <a:xfrm>
            <a:off x="2429776" y="4103298"/>
            <a:ext cx="6852248" cy="1754326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Here I’m just trying to see what it handles this with regard to the critical path. Technically, the critical path should be task 2</a:t>
            </a:r>
          </a:p>
          <a:p>
            <a:endParaRPr lang="en-US" sz="1200"/>
          </a:p>
          <a:p>
            <a:r>
              <a:rPr lang="en-US" sz="1200"/>
              <a:t>Task 8 has least Total Slack (-5d) because Must Finish On hard constraint. I’m guessing it will calculate this correctly, but will be interested to see how AI describes this</a:t>
            </a:r>
          </a:p>
          <a:p>
            <a:endParaRPr lang="en-US" sz="1200"/>
          </a:p>
          <a:p>
            <a:r>
              <a:rPr lang="en-US" sz="1200"/>
              <a:t>Task 11 has the same Total Slack (-5d) but only because of a deadline. I’m basically trying to see if it calculates Total Slack on its own (I think it does) and handles deadlines (an MS Project-specific field). If not, it’ll show that this task has 13d Total Slack.  </a:t>
            </a:r>
          </a:p>
        </p:txBody>
      </p:sp>
    </p:spTree>
    <p:extLst>
      <p:ext uri="{BB962C8B-B14F-4D97-AF65-F5344CB8AC3E}">
        <p14:creationId xmlns:p14="http://schemas.microsoft.com/office/powerpoint/2010/main" val="3683391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673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Vallely, Michael (GRC-BC00)</dc:creator>
  <cp:lastModifiedBy>Vallely, Michael (GRC-BC00)</cp:lastModifiedBy>
  <cp:revision>1</cp:revision>
  <dcterms:created xsi:type="dcterms:W3CDTF">2026-07-31T13:12:14Z</dcterms:created>
  <dcterms:modified xsi:type="dcterms:W3CDTF">2026-07-31T14:29:01Z</dcterms:modified>
</cp:coreProperties>
</file>